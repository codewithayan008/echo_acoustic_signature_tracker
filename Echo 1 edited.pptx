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357221-3A4E-4A19-8585-08175554E96E}" v="147" dt="2026-09-21T08:20:07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PERSONAL ACOUSTIC HEALTH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E1D16"/>
                </a:solidFill>
                <a:latin typeface="Aptos Display"/>
              </a:rPr>
              <a:t>Hear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0" i="1">
                <a:solidFill>
                  <a:srgbClr val="2A7052"/>
                </a:solidFill>
                <a:latin typeface="Georgia"/>
              </a:rPr>
              <a:t>before it feels 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67712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9746E"/>
                </a:solidFill>
                <a:latin typeface="Aptos"/>
              </a:rPr>
              <a:t>ECHO builds a private acoustic picture of breathing, voice and cough — then watches for meaningful change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83280"/>
            <a:ext cx="5029200" cy="310896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3433572"/>
            <a:ext cx="4882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LOCAL-FIRST  •  PERSONAL BASELINE  •  EXPLAINABLE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989320"/>
            <a:ext cx="384048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 b="1" i="0" dirty="0">
                <a:solidFill>
                  <a:srgbClr val="0E1D16"/>
                </a:solidFill>
                <a:latin typeface="Aptos Mono"/>
              </a:rPr>
              <a:t>TEAM </a:t>
            </a:r>
            <a:r>
              <a:rPr lang="en-GB" sz="1100" b="1" dirty="0">
                <a:solidFill>
                  <a:srgbClr val="0E1D16"/>
                </a:solidFill>
                <a:latin typeface="Aptos Mono"/>
              </a:rPr>
              <a:t>PIZZA HUT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6291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9746E"/>
                </a:solidFill>
                <a:latin typeface="Aptos Mono"/>
              </a:rPr>
              <a:t>SRMIST  •  MED VISION’26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80E91F-D395-13B3-AF1A-F0D794B4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164" y="924451"/>
            <a:ext cx="5065524" cy="4612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Respiratory change can hide between check-ups.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27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9746E"/>
                </a:solidFill>
                <a:latin typeface="Aptos"/>
              </a:rPr>
              <a:t>ECHO focuses on the missing longitudinal layer: a person's own acoustic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CLINIC SNAPSHOTS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E1D16"/>
                </a:solidFill>
                <a:latin typeface="Aptos"/>
              </a:rPr>
              <a:t>One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9746E"/>
                </a:solidFill>
                <a:latin typeface="Aptos"/>
              </a:rPr>
              <a:t>episodic • clinic-bound • effort-dependent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PERSONAL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E1D16"/>
                </a:solidFill>
                <a:latin typeface="Aptos"/>
              </a:rPr>
              <a:t>Many small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9746E"/>
                </a:solidFill>
                <a:latin typeface="Aptos"/>
              </a:rPr>
              <a:t>repeated • comparable • personal</a:t>
            </a:r>
          </a:p>
        </p:txBody>
      </p:sp>
      <p:pic>
        <p:nvPicPr>
          <p:cNvPr id="11" name="Picture 10" descr="echo_monitor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65960"/>
            <a:ext cx="4160520" cy="1613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5029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9746E"/>
                </a:solidFill>
                <a:latin typeface="Aptos"/>
              </a:rPr>
              <a:t>Conceptual illustration — not clinical outcome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10744200" cy="86868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193792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E1D16"/>
                </a:solidFill>
                <a:latin typeface="Aptos"/>
              </a:rPr>
              <a:t>A repeatable, private reference for how this person normally sounds.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Existing tools answer different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3317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042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SPIROMETRY / PFT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517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Clinical test • equipment • trained supervision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23317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042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DIGITAL STETHOSCOPE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Placement-sensitive • interpretation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216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COUGH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69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Population model • one-shot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216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69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SpO₂ / heart rate • acoustic dimension missing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744200" cy="658368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41324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ECHO's target is not one-shot diagnosis. It is longitudinal personal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ECHO changes the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074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TRADITIONAL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E1D16"/>
                </a:solidFill>
                <a:latin typeface="Aptos"/>
              </a:rPr>
              <a:t>“Does this sound like disease?”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983480" cy="242316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ECHO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97180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“Has this person changed from their own normal?”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3355848"/>
            <a:ext cx="457200" cy="0"/>
          </a:xfrm>
          <a:prstGeom prst="line">
            <a:avLst/>
          </a:prstGeom>
          <a:ln w="381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056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7052"/>
                </a:solidFill>
                <a:latin typeface="Aptos"/>
              </a:rPr>
              <a:t>N = 1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56235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E1D16"/>
                </a:solidFill>
                <a:latin typeface="Aptos"/>
              </a:rPr>
              <a:t>Monitoring change ≠ diagnosing disease.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MVP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From a short recording to an interpretable change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~55 sec guided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923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Local audio + DSP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1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Acoustic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2671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Personal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9439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Score + feature shifts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60"/>
            <a:ext cx="10744200" cy="82296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96519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1D16"/>
                </a:solidFill>
                <a:latin typeface="Aptos"/>
              </a:rPr>
              <a:t>Guided stages: normal breathing • deep breathing • sustained “aaa” • two coughs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The ECHO MVP is a real, navigable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5542" y="6130206"/>
            <a:ext cx="2405099" cy="310896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18694" y="6180498"/>
            <a:ext cx="22587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01  GUIDED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1702" y="6186650"/>
            <a:ext cx="2792308" cy="339118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4853" y="6236942"/>
            <a:ext cx="26460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02  PERSONAL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FFF7BD-2505-744E-1FCB-638978299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36850"/>
            <a:ext cx="10131778" cy="4473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PERSONAL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Your normal becomes the reference.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2029967"/>
            <a:ext cx="3977639" cy="420624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0" y="2057400"/>
            <a:ext cx="6446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Several normal recordings → stable personal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NORMAL SESSIONS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425196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80760" y="406908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75120" y="434340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69480" y="411480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0" y="429768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58200" y="416052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440680" y="4462272"/>
            <a:ext cx="3383280" cy="0"/>
          </a:xfrm>
          <a:prstGeom prst="line">
            <a:avLst/>
          </a:prstGeom>
          <a:ln w="254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3520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9141"/>
                </a:solidFill>
                <a:latin typeface="Aptos Mono"/>
              </a:rPr>
              <a:t>NEW ASSESSMENT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3886200"/>
            <a:ext cx="274320" cy="274320"/>
          </a:xfrm>
          <a:prstGeom prst="ellipse">
            <a:avLst/>
          </a:prstGeom>
          <a:solidFill>
            <a:srgbClr val="E19141"/>
          </a:solidFill>
          <a:ln>
            <a:solidFill>
              <a:srgbClr val="E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4983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9746E"/>
                </a:solidFill>
                <a:latin typeface="Aptos"/>
              </a:rPr>
              <a:t>The current MVP asks whether the new recording moves away from the user's own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07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3DE965F-AAC9-B940-78EA-AFF90E5F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" t="-1134" r="41606" b="265"/>
          <a:stretch>
            <a:fillRect/>
          </a:stretch>
        </p:blipFill>
        <p:spPr>
          <a:xfrm>
            <a:off x="-1" y="2028081"/>
            <a:ext cx="4960436" cy="4194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BDC"/>
                </a:solidFill>
                <a:latin typeface="Aptos Mono"/>
              </a:rPr>
              <a:t>DEVIATION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A multi-signal monitoring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2240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 Display"/>
              </a:rPr>
              <a:t>0–100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912" y="2907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BDC"/>
                </a:solidFill>
                <a:latin typeface="Aptos"/>
              </a:rPr>
              <a:t>personal deviation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35661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CDC5"/>
                </a:solidFill>
                <a:latin typeface="Aptos"/>
              </a:rPr>
              <a:t>The dashboard is designed to show the score only after a baseline exists and an assessment has been analyzed.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09160"/>
            <a:ext cx="2011680" cy="310896"/>
          </a:xfrm>
          <a:prstGeom prst="roundRect">
            <a:avLst/>
          </a:prstGeom>
          <a:solidFill>
            <a:srgbClr val="374E42"/>
          </a:solidFill>
          <a:ln>
            <a:solidFill>
              <a:srgbClr val="37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02352" y="4759452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FEBDC"/>
                </a:solidFill>
                <a:latin typeface="Aptos Mono"/>
              </a:rPr>
              <a:t>WITHIN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4709160"/>
            <a:ext cx="1828800" cy="310896"/>
          </a:xfrm>
          <a:prstGeom prst="roundRect">
            <a:avLst/>
          </a:prstGeom>
          <a:solidFill>
            <a:srgbClr val="544330"/>
          </a:solidFill>
          <a:ln>
            <a:solidFill>
              <a:srgbClr val="544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475945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689"/>
                </a:solidFill>
                <a:latin typeface="Aptos Mono"/>
              </a:rPr>
              <a:t>REVIEW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ECDC5"/>
                </a:solidFill>
                <a:latin typeface="Aptos"/>
              </a:rPr>
              <a:t>No clinical threshold is claimed.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CDC2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8CDC2"/>
                </a:solidFill>
                <a:latin typeface="Aptos Mono"/>
              </a:rPr>
              <a:t>08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05D95A-CD9A-432C-6874-72A7D12F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56" y="1724025"/>
            <a:ext cx="4058356" cy="45106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ECHO does not hide behind a number.</a:t>
            </a:r>
          </a:p>
        </p:txBody>
      </p:sp>
      <p:pic>
        <p:nvPicPr>
          <p:cNvPr id="6" name="Picture 5" descr="echo_featur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6675120" cy="3178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52120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46E"/>
                </a:solidFill>
                <a:latin typeface="Aptos"/>
              </a:rPr>
              <a:t>Illustrative feature-shift chart — replace with actual MVP output when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5623560"/>
            <a:ext cx="6446520" cy="50292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5760720"/>
            <a:ext cx="6080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1D16"/>
                </a:solidFill>
                <a:latin typeface="Aptos"/>
              </a:rPr>
              <a:t>The dashboard highlights the largest standardized feature shifts.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87D7E3-E527-F647-DB19-30BE54DFC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70" y="2070806"/>
            <a:ext cx="4322940" cy="4056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LONGITUDINAL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A session becomes a point in a trend.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2029967"/>
            <a:ext cx="3108960" cy="406908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cho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524" y="2025791"/>
            <a:ext cx="6949440" cy="3218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5257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46E"/>
                </a:solidFill>
                <a:latin typeface="Aptos"/>
              </a:rPr>
              <a:t>Illustrative trend — not a patient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5623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D16"/>
                </a:solidFill>
                <a:latin typeface="Aptos"/>
              </a:rPr>
              <a:t>Repeated sessions create context that a one-shot classifier cannot provide.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848094-A917-DF61-6776-75E33A805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9" r="41199" b="-309"/>
          <a:stretch>
            <a:fillRect/>
          </a:stretch>
        </p:blipFill>
        <p:spPr>
          <a:xfrm>
            <a:off x="3703" y="1717005"/>
            <a:ext cx="4025611" cy="44158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Keep the raw acoustic signal local whenever possible.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MICROPHONE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raw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5304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LOCAL DSP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6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ENCRYPTED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feature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08008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trend +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89120"/>
            <a:ext cx="10835640" cy="114300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BDC"/>
                </a:solidFill>
                <a:latin typeface="Aptos Mono"/>
              </a:rPr>
              <a:t>RAW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55371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is processed in memory by the MVP and is not written to disk by the app.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CDC5"/>
                </a:solidFill>
                <a:latin typeface="Aptos"/>
              </a:rPr>
              <a:t>Feature vectors are encrypted in SQLite; deployment secrets should be managed securely.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LOCAL AI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A conversational layer with explicit safety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1847088"/>
            <a:ext cx="5852160" cy="452628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_crop_36220.png_0.65_1.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58521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1965960"/>
            <a:ext cx="4572000" cy="105156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22677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FEBDC"/>
                </a:solidFill>
                <a:latin typeface="Aptos Mono"/>
              </a:rPr>
              <a:t>OLLAMA / LOCAL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614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Summarizes ECHO results in plain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29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NO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4290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Explains the monitoring output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160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NO 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Does not recommend medication.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892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EMERGENCY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920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Directs urgent situations to local medical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Commodity hardware. Open-source software. CPU-friendly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2331720" cy="393192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947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2938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1D16"/>
                </a:solidFill>
                <a:latin typeface="Aptos"/>
              </a:rPr>
              <a:t>Raspberry Pi + microphone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04872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7802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5973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9746E"/>
                </a:solidFill>
                <a:latin typeface="Aptos"/>
              </a:rPr>
              <a:t>Python 3 +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35224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00837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SIGNAL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9008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NumPy • SciPy • SoundFile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65575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38727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39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9746E"/>
                </a:solidFill>
                <a:latin typeface="Aptos"/>
              </a:rPr>
              <a:t>SQLite + Fernet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95927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06907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50791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Scikit-learn • anomaly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26279"/>
            <a:ext cx="2331720" cy="393192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599431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581143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9746E"/>
                </a:solidFill>
                <a:latin typeface="Aptos"/>
              </a:rP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56631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129783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11495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Docker •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71500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052"/>
                </a:solidFill>
                <a:latin typeface="Aptos"/>
              </a:rPr>
              <a:t>Future clients: React/Vite web frontend • native Kotlin Android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How we test the engineering without overclaiming.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PERSONAL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Repeated recordings from the same 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PUBLIC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Coswara • COUGHVID • ICBHI — separate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CONTROLLED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Future clinical partner + standardized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ENGINEERING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828032"/>
            <a:ext cx="7680960" cy="0"/>
          </a:xfrm>
          <a:prstGeom prst="line">
            <a:avLst/>
          </a:prstGeom>
          <a:ln w="381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8600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91640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OFFLINE
VALIDATION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CONTROLLED
PILOT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CLINICAL
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10744200" cy="438912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916168"/>
            <a:ext cx="10287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1D16"/>
                </a:solidFill>
                <a:latin typeface="Aptos"/>
              </a:rPr>
              <a:t>Public datasets support offline engineering validation — not a disease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CLOSING  /  ECHO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From a microphone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CFEBDC"/>
                </a:solidFill>
                <a:latin typeface="Georgia"/>
              </a:rPr>
              <a:t>to a personal respiratory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"/>
              </a:rPr>
              <a:t>ECHO does not try to diagnose from one sound.
It tries to notice meaningful change from your own 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69080"/>
            <a:ext cx="10652760" cy="960120"/>
          </a:xfrm>
          <a:prstGeom prst="roundRect">
            <a:avLst/>
          </a:prstGeom>
          <a:solidFill>
            <a:srgbClr val="1F352B"/>
          </a:solidFill>
          <a:ln>
            <a:solidFill>
              <a:srgbClr val="1F3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22452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Guided capture  •  personal baseline  •  deviation score  •  explainability  •  local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CDC5"/>
                </a:solidFill>
                <a:latin typeface="Aptos Mono"/>
              </a:rPr>
              <a:t>RESEARCH PROTOTYPE — NOT A DIAGNOSTIC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89320"/>
            <a:ext cx="68580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1" i="0">
                <a:solidFill>
                  <a:srgbClr val="CFEBDC"/>
                </a:solidFill>
                <a:latin typeface="Aptos Mono"/>
              </a:rPr>
              <a:t>TEAM </a:t>
            </a:r>
            <a:r>
              <a:rPr lang="en-GB" sz="1000" b="1">
                <a:solidFill>
                  <a:srgbClr val="CFEBDC"/>
                </a:solidFill>
                <a:latin typeface="Aptos Mono"/>
              </a:rPr>
              <a:t>PIZZA HUT </a:t>
            </a:r>
            <a:r>
              <a:rPr sz="1000" b="1" i="0">
                <a:solidFill>
                  <a:srgbClr val="CFEBDC"/>
                </a:solidFill>
                <a:latin typeface="Aptos Mono"/>
              </a:rPr>
              <a:t> •  SRMIST  •  MED VISION’26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CDC2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8CDC2"/>
                </a:solidFill>
                <a:latin typeface="Aptos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49</cp:revision>
  <dcterms:modified xsi:type="dcterms:W3CDTF">2026-09-21T08:21:13Z</dcterms:modified>
</cp:coreProperties>
</file>