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slideMaster+xml" PartName="/ppt/slideMasters/slideMaster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ContentType="application/vnd.openxmlformats-officedocument.presentationml.viewProps+xml" PartName="/ppt/viewProps1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1675"/>
  <p:notesSz cx="6858000" cy="9144000"/>
  <p:defaultTextStyle>
    <a:defPPr lvl="0">
      <a:defRPr lang="en-US"/>
    </a:defPPr>
    <a:lvl1pPr defTabSz="4572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4572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4572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4572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4572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4572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4572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4572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4572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1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viewProps" Target="viewProps1.xml"/><Relationship Id="rId3" Type="http://schemas.openxmlformats.org/officeDocument/2006/relationships/presProps" Target="presProps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PERSONAL ACOUSTIC HEALTH  /  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7863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0E1D16"/>
                </a:solidFill>
                <a:latin typeface="Aptos Display"/>
              </a:rPr>
              <a:t>Hear the change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353312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900" b="0" i="1">
                <a:solidFill>
                  <a:srgbClr val="2A7052"/>
                </a:solidFill>
                <a:latin typeface="Georgia"/>
              </a:rPr>
              <a:t>before it feels loud.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267712"/>
            <a:ext cx="6126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69746E"/>
                </a:solidFill>
                <a:latin typeface="Aptos"/>
              </a:rPr>
              <a:t>ECHO builds a private acoustic picture of breathing, voice and cough — then watches for meaningful change over time.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3383280"/>
            <a:ext cx="5029200" cy="310896"/>
          </a:xfrm>
          <a:prstGeom prst="roundRect">
            <a:avLst/>
          </a:prstGeom>
          <a:solidFill>
            <a:srgbClr val="CFEBDC"/>
          </a:solidFill>
          <a:ln>
            <a:solidFill>
              <a:srgbClr val="CF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3433572"/>
            <a:ext cx="48828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A7052"/>
                </a:solidFill>
                <a:latin typeface="Aptos Mono"/>
              </a:rPr>
              <a:t>LOCAL-FIRST  •  PERSONAL BASELINE  •  EXPLAINABLE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41464" y="658368"/>
            <a:ext cx="4434840" cy="5440680"/>
          </a:xfrm>
          <a:prstGeom prst="roundRect">
            <a:avLst/>
          </a:prstGeom>
          <a:solidFill>
            <a:srgbClr val="DCE2DC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_crop_36207.jpg_7.75_0.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594360"/>
            <a:ext cx="4434840" cy="5440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1792" y="59893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E1D16"/>
                </a:solidFill>
                <a:latin typeface="Aptos Mono"/>
              </a:rPr>
              <a:t>TEAM VOID_ELIMINATORS()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291072"/>
            <a:ext cx="3840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9746E"/>
                </a:solidFill>
                <a:latin typeface="Aptos Mono"/>
              </a:rPr>
              <a:t>SRMIST  •  MED VISION’26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Respiratory change can hide between check-ups.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527048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9746E"/>
                </a:solidFill>
                <a:latin typeface="Aptos"/>
              </a:rPr>
              <a:t>ECHO focuses on the missing longitudinal layer: a person's own acoustic reference.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CLINIC SNAPSHOTS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E1D16"/>
                </a:solidFill>
                <a:latin typeface="Aptos"/>
              </a:rPr>
              <a:t>One test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1363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9746E"/>
                </a:solidFill>
                <a:latin typeface="Aptos"/>
              </a:rPr>
              <a:t>episodic • clinic-bound • effort-dependent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331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PERSONAL TREND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69748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E1D16"/>
                </a:solidFill>
                <a:latin typeface="Aptos"/>
              </a:rPr>
              <a:t>Many small signals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31363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9746E"/>
                </a:solidFill>
                <a:latin typeface="Aptos"/>
              </a:rPr>
              <a:t>repeated • comparable • personal</a:t>
            </a:r>
          </a:p>
        </p:txBody>
      </p:sp>
      <p:pic>
        <p:nvPicPr>
          <p:cNvPr id="11" name="Picture 10" descr="echo_monitorin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65960"/>
            <a:ext cx="4160520" cy="161326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543800" y="50292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9746E"/>
                </a:solidFill>
                <a:latin typeface="Aptos"/>
              </a:rPr>
              <a:t>Conceptual illustration — not clinical outcome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074920"/>
            <a:ext cx="10744200" cy="868680"/>
          </a:xfrm>
          <a:prstGeom prst="roundRect">
            <a:avLst/>
          </a:prstGeom>
          <a:solidFill>
            <a:srgbClr val="CFEBDC"/>
          </a:solidFill>
          <a:ln>
            <a:solidFill>
              <a:srgbClr val="CF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28523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THE 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5193792"/>
            <a:ext cx="8961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E1D16"/>
                </a:solidFill>
                <a:latin typeface="Aptos"/>
              </a:rPr>
              <a:t>A repeatable, private reference for how this person normally sounds.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THE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Existing tools answer different questions.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23317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304288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1D16"/>
                </a:solidFill>
                <a:latin typeface="Aptos"/>
              </a:rPr>
              <a:t>SPIROMETRY / PFT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5176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Clinical test • equipment • trained supervision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14884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73368" y="233172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2304288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1D16"/>
                </a:solidFill>
                <a:latin typeface="Aptos"/>
              </a:rPr>
              <a:t>DIGITAL STETHOSCOPE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265176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Placement-sensitive • interpretation required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56616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7" y="374904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721608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1D16"/>
                </a:solidFill>
                <a:latin typeface="Aptos"/>
              </a:rPr>
              <a:t>COUGH CLASSIFIER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406908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Population model • one-shot classification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3566160"/>
            <a:ext cx="50749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73368" y="374904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721608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1D16"/>
                </a:solidFill>
                <a:latin typeface="Aptos"/>
              </a:rPr>
              <a:t>WEARABLES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4069080"/>
            <a:ext cx="3977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SpO₂ / heart rate • acoustic dimension missing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212080"/>
            <a:ext cx="10744200" cy="658368"/>
          </a:xfrm>
          <a:prstGeom prst="roundRect">
            <a:avLst/>
          </a:prstGeom>
          <a:solidFill>
            <a:srgbClr val="0E1D16"/>
          </a:solidFill>
          <a:ln>
            <a:solidFill>
              <a:srgbClr val="0E1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413248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ECHO's target is not one-shot diagnosis. It is longitudinal personal change.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ECHO changes the question.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50749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468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9746E"/>
                </a:solidFill>
                <a:latin typeface="Aptos Mono"/>
              </a:rPr>
              <a:t>TRADITIONAL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97180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0E1D16"/>
                </a:solidFill>
                <a:latin typeface="Aptos"/>
              </a:rPr>
              <a:t>“Does this sound like disease?”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48840"/>
            <a:ext cx="4983480" cy="2423160"/>
          </a:xfrm>
          <a:prstGeom prst="roundRect">
            <a:avLst/>
          </a:prstGeom>
          <a:solidFill>
            <a:srgbClr val="0E1D16"/>
          </a:solidFill>
          <a:ln>
            <a:solidFill>
              <a:srgbClr val="0E1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20840" y="246888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FEBDC"/>
                </a:solidFill>
                <a:latin typeface="Aptos Mono"/>
              </a:rPr>
              <a:t>ECHO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971800"/>
            <a:ext cx="4160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ptos"/>
              </a:rPr>
              <a:t>“Has this person changed from their own normal?”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97880" y="3355848"/>
            <a:ext cx="457200" cy="0"/>
          </a:xfrm>
          <a:prstGeom prst="line">
            <a:avLst/>
          </a:prstGeom>
          <a:ln w="38100">
            <a:solidFill>
              <a:srgbClr val="2A7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480560" y="50749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A7052"/>
                </a:solidFill>
                <a:latin typeface="Aptos"/>
              </a:rPr>
              <a:t>N = 1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5623560"/>
            <a:ext cx="6126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E1D16"/>
                </a:solidFill>
                <a:latin typeface="Aptos"/>
              </a:rPr>
              <a:t>Monitoring change ≠ diagnosing disease.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MVP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From a short recording to an interpretable change signal.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240280"/>
            <a:ext cx="2011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" y="24688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1D16"/>
                </a:solidFill>
                <a:latin typeface="Aptos"/>
              </a:rPr>
              <a:t>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34015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~55 sec guided 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32888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A7052"/>
                </a:solidFill>
                <a:latin typeface="Apto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240280"/>
            <a:ext cx="2011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24688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1D16"/>
                </a:solidFill>
                <a:latin typeface="Aptos"/>
              </a:rPr>
              <a:t>PROCESS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99232" y="34015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Local audio + DSP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64608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A7052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66359" y="2240280"/>
            <a:ext cx="2011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30951" y="24688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30951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1D16"/>
                </a:solidFill>
                <a:latin typeface="Aptos"/>
              </a:rPr>
              <a:t>EXTRACT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30951" y="34015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Acoustic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7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A7052"/>
                </a:solidFill>
                <a:latin typeface="Aptos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240280"/>
            <a:ext cx="2011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1" y="24688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62671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1D16"/>
                </a:solidFill>
                <a:latin typeface="Aptos"/>
              </a:rPr>
              <a:t>COMPARE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62671" y="34015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Personal 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28048" y="301752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A7052"/>
                </a:solidFill>
                <a:latin typeface="Aptos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829800" y="2240280"/>
            <a:ext cx="201168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994392" y="2468880"/>
            <a:ext cx="411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94392" y="290779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1D16"/>
                </a:solidFill>
                <a:latin typeface="Aptos"/>
              </a:rPr>
              <a:t>EXPLAIN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94392" y="3401568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Score + feature shifts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709160"/>
            <a:ext cx="10744200" cy="822960"/>
          </a:xfrm>
          <a:prstGeom prst="roundRect">
            <a:avLst/>
          </a:prstGeom>
          <a:solidFill>
            <a:srgbClr val="CFEBDC"/>
          </a:solidFill>
          <a:ln>
            <a:solidFill>
              <a:srgbClr val="CF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4965192"/>
            <a:ext cx="10241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E1D16"/>
                </a:solidFill>
                <a:latin typeface="Aptos"/>
              </a:rPr>
              <a:t>Guided stages: normal breathing • deep breathing • sustained “aaa” • two coughs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PRODUCT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The ECHO MVP is a real, navigable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" y="1938527"/>
            <a:ext cx="5257800" cy="4160520"/>
          </a:xfrm>
          <a:prstGeom prst="roundRect">
            <a:avLst/>
          </a:prstGeom>
          <a:solidFill>
            <a:srgbClr val="DCE2DC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_crop_36211.jpg_0.65_2.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74519"/>
            <a:ext cx="525780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364224" y="1938527"/>
            <a:ext cx="5257800" cy="4160520"/>
          </a:xfrm>
          <a:prstGeom prst="roundRect">
            <a:avLst/>
          </a:prstGeom>
          <a:solidFill>
            <a:srgbClr val="DCE2DC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_crop_36213.jpg_6.9_2.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874519"/>
            <a:ext cx="5257800" cy="41605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1417320" y="5833872"/>
            <a:ext cx="2560320" cy="310896"/>
          </a:xfrm>
          <a:prstGeom prst="roundRect">
            <a:avLst/>
          </a:prstGeom>
          <a:solidFill>
            <a:srgbClr val="CFEBDC"/>
          </a:solidFill>
          <a:ln>
            <a:solidFill>
              <a:srgbClr val="CF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90472" y="5884164"/>
            <a:ext cx="241401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A7052"/>
                </a:solidFill>
                <a:latin typeface="Aptos Mono"/>
              </a:rPr>
              <a:t>01  GUIDED CAPTURE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5833872"/>
            <a:ext cx="2834640" cy="310896"/>
          </a:xfrm>
          <a:prstGeom prst="roundRect">
            <a:avLst/>
          </a:prstGeom>
          <a:solidFill>
            <a:srgbClr val="CFEBDC"/>
          </a:solidFill>
          <a:ln>
            <a:solidFill>
              <a:srgbClr val="CF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42631" y="5884164"/>
            <a:ext cx="268833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A7052"/>
                </a:solidFill>
                <a:latin typeface="Aptos Mono"/>
              </a:rPr>
              <a:t>02  PERSONAL SIGNAL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PERSONAL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Your normal becomes the reference.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94944" y="2029967"/>
            <a:ext cx="3977639" cy="4206240"/>
          </a:xfrm>
          <a:prstGeom prst="roundRect">
            <a:avLst/>
          </a:prstGeom>
          <a:solidFill>
            <a:srgbClr val="DCE2DC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_crop_36211.jpg_0.7_2.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65960"/>
            <a:ext cx="3977639" cy="42062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4983480" y="2057400"/>
            <a:ext cx="64465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0" y="2304288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240280"/>
            <a:ext cx="4526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1D16"/>
                </a:solidFill>
                <a:latin typeface="Aptos"/>
              </a:rPr>
              <a:t>Several normal recordings → stable personal reference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520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9746E"/>
                </a:solidFill>
                <a:latin typeface="Aptos Mono"/>
              </a:rPr>
              <a:t>NORMAL SESSIONS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4251960"/>
            <a:ext cx="164592" cy="164592"/>
          </a:xfrm>
          <a:prstGeom prst="ellipse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080760" y="4069080"/>
            <a:ext cx="164592" cy="164592"/>
          </a:xfrm>
          <a:prstGeom prst="ellipse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75120" y="4343400"/>
            <a:ext cx="164592" cy="164592"/>
          </a:xfrm>
          <a:prstGeom prst="ellipse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269480" y="4114800"/>
            <a:ext cx="164592" cy="164592"/>
          </a:xfrm>
          <a:prstGeom prst="ellipse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863840" y="4297680"/>
            <a:ext cx="164592" cy="164592"/>
          </a:xfrm>
          <a:prstGeom prst="ellipse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58200" y="4160520"/>
            <a:ext cx="164592" cy="164592"/>
          </a:xfrm>
          <a:prstGeom prst="ellipse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" name="Connector 15"/>
          <p:cNvCxnSpPr/>
          <p:nvPr/>
        </p:nvCxnSpPr>
        <p:spPr>
          <a:xfrm>
            <a:off x="5440680" y="4462272"/>
            <a:ext cx="3383280" cy="0"/>
          </a:xfrm>
          <a:prstGeom prst="line">
            <a:avLst/>
          </a:prstGeom>
          <a:ln w="25400">
            <a:solidFill>
              <a:srgbClr val="2A7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144000" y="3520440"/>
            <a:ext cx="1920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19141"/>
                </a:solidFill>
                <a:latin typeface="Aptos Mono"/>
              </a:rPr>
              <a:t>NEW ASSESSMENT</a:t>
            </a:r>
          </a:p>
        </p:txBody>
      </p:sp>
      <p:sp>
        <p:nvSpPr>
          <p:cNvPr id="18" name="Oval 17"/>
          <p:cNvSpPr/>
          <p:nvPr/>
        </p:nvSpPr>
        <p:spPr>
          <a:xfrm>
            <a:off x="10058400" y="3886200"/>
            <a:ext cx="274320" cy="274320"/>
          </a:xfrm>
          <a:prstGeom prst="ellipse">
            <a:avLst/>
          </a:prstGeom>
          <a:solidFill>
            <a:srgbClr val="E19141"/>
          </a:solidFill>
          <a:ln>
            <a:solidFill>
              <a:srgbClr val="E191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498348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69746E"/>
                </a:solidFill>
                <a:latin typeface="Aptos"/>
              </a:rPr>
              <a:t>The current MVP asks whether the new recording moves away from the user's own baseline.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FEBDC"/>
                </a:solidFill>
                <a:latin typeface="Aptos Mono"/>
              </a:rPr>
              <a:t>DEVIATION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Aptos Display"/>
              </a:rPr>
              <a:t>A multi-signal monitoring score.</a:t>
            </a:r>
          </a:p>
        </p:txBody>
      </p:sp>
      <p:pic>
        <p:nvPicPr>
          <p:cNvPr id="4" name="Picture 3" descr="_crop_36215.jpg_0.7_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20240"/>
            <a:ext cx="3886200" cy="4343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83480" y="2240280"/>
            <a:ext cx="2103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ptos Display"/>
              </a:rPr>
              <a:t>0–100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10912" y="29077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FEBDC"/>
                </a:solidFill>
                <a:latin typeface="Aptos"/>
              </a:rPr>
              <a:t>personal deviation signal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10912" y="356616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ECDC5"/>
                </a:solidFill>
                <a:latin typeface="Aptos"/>
              </a:rPr>
              <a:t>The dashboard is designed to show the score only after a baseline exists and an assessment has been analyzed.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4709160"/>
            <a:ext cx="2011680" cy="310896"/>
          </a:xfrm>
          <a:prstGeom prst="roundRect">
            <a:avLst/>
          </a:prstGeom>
          <a:solidFill>
            <a:srgbClr val="374E42"/>
          </a:solidFill>
          <a:ln>
            <a:solidFill>
              <a:srgbClr val="374E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02352" y="4759452"/>
            <a:ext cx="186537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FEBDC"/>
                </a:solidFill>
                <a:latin typeface="Aptos Mono"/>
              </a:rPr>
              <a:t>WITHIN BASELINE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69480" y="4709160"/>
            <a:ext cx="1828800" cy="310896"/>
          </a:xfrm>
          <a:prstGeom prst="roundRect">
            <a:avLst/>
          </a:prstGeom>
          <a:solidFill>
            <a:srgbClr val="544330"/>
          </a:solidFill>
          <a:ln>
            <a:solidFill>
              <a:srgbClr val="5443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42631" y="4759452"/>
            <a:ext cx="1682496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C689"/>
                </a:solidFill>
                <a:latin typeface="Aptos Mono"/>
              </a:rPr>
              <a:t>REVIEW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57784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BECDC5"/>
                </a:solidFill>
                <a:latin typeface="Aptos"/>
              </a:rPr>
              <a:t>No clinical threshold is claimed.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8CDC2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B8CDC2"/>
                </a:solidFill>
                <a:latin typeface="Aptos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ECHO does not hide behind a number.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" y="1938527"/>
            <a:ext cx="3657600" cy="4389120"/>
          </a:xfrm>
          <a:prstGeom prst="roundRect">
            <a:avLst/>
          </a:prstGeom>
          <a:solidFill>
            <a:srgbClr val="DCE2DC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_crop_36215.jpg_0.65_2.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874519"/>
            <a:ext cx="3657600" cy="4389120"/>
          </a:xfrm>
          <a:prstGeom prst="rect">
            <a:avLst/>
          </a:prstGeom>
        </p:spPr>
      </p:pic>
      <p:pic>
        <p:nvPicPr>
          <p:cNvPr id="6" name="Picture 5" descr="echo_feature_shif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6280" y="2103120"/>
            <a:ext cx="6675120" cy="317888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0" y="5212080"/>
            <a:ext cx="6035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9746E"/>
                </a:solidFill>
                <a:latin typeface="Aptos"/>
              </a:rPr>
              <a:t>Illustrative feature-shift chart — replace with actual MVP output when available.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17720" y="5623560"/>
            <a:ext cx="6446520" cy="502920"/>
          </a:xfrm>
          <a:prstGeom prst="roundRect">
            <a:avLst/>
          </a:prstGeom>
          <a:solidFill>
            <a:srgbClr val="CFEBDC"/>
          </a:solidFill>
          <a:ln>
            <a:solidFill>
              <a:srgbClr val="CF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5760720"/>
            <a:ext cx="6080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E1D16"/>
                </a:solidFill>
                <a:latin typeface="Aptos"/>
              </a:rPr>
              <a:t>The dashboard highlights the largest standardized feature shifts.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LONGITUDINAL 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A session becomes a point in a trend.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" y="2029967"/>
            <a:ext cx="3108960" cy="4069080"/>
          </a:xfrm>
          <a:prstGeom prst="roundRect">
            <a:avLst/>
          </a:prstGeom>
          <a:solidFill>
            <a:srgbClr val="DCE2DC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_crop_36215.jpg_0.65_2.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965960"/>
            <a:ext cx="3108960" cy="4069080"/>
          </a:xfrm>
          <a:prstGeom prst="rect">
            <a:avLst/>
          </a:prstGeom>
        </p:spPr>
      </p:pic>
      <p:pic>
        <p:nvPicPr>
          <p:cNvPr id="6" name="Picture 5" descr="echo_longitud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2011680"/>
            <a:ext cx="6949440" cy="32187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0" y="525780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9746E"/>
                </a:solidFill>
                <a:latin typeface="Aptos"/>
              </a:rPr>
              <a:t>Illustrative trend — not a patient result.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56235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E1D16"/>
                </a:solidFill>
                <a:latin typeface="Aptos"/>
              </a:rPr>
              <a:t>Repeated sessions create context that a one-shot classifier cannot provide.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PRIVACY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Keep the raw acoustic signal local whenever possible.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37744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26974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A7052"/>
                </a:solidFill>
                <a:latin typeface="Aptos Mono"/>
              </a:rPr>
              <a:t>MICROPHONE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31546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9746E"/>
                </a:solidFill>
                <a:latin typeface="Aptos"/>
              </a:rPr>
              <a:t>raw audio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0088" y="2834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A7052"/>
                </a:solidFill>
                <a:latin typeface="Aptos"/>
              </a:rP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10712" y="237744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75304" y="26974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A7052"/>
                </a:solidFill>
                <a:latin typeface="Aptos Mono"/>
              </a:rPr>
              <a:t>LOCAL DSP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75304" y="31546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9746E"/>
                </a:solidFill>
                <a:latin typeface="Aptos"/>
              </a:rPr>
              <a:t>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2834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A7052"/>
                </a:solidFill>
                <a:latin typeface="Aptos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27064" y="237744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26974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A7052"/>
                </a:solidFill>
                <a:latin typeface="Aptos Mono"/>
              </a:rPr>
              <a:t>ENCRYPTED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31546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9746E"/>
                </a:solidFill>
                <a:latin typeface="Aptos"/>
              </a:rPr>
              <a:t>feature vectors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22792" y="28346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2A7052"/>
                </a:solidFill>
                <a:latin typeface="Aptos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3416" y="2377440"/>
            <a:ext cx="233172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08008" y="26974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A7052"/>
                </a:solidFill>
                <a:latin typeface="Aptos Mono"/>
              </a:rPr>
              <a:t>DASHBOARD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008" y="3154680"/>
            <a:ext cx="1965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9746E"/>
                </a:solidFill>
                <a:latin typeface="Aptos"/>
              </a:rPr>
              <a:t>trend + score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4389120"/>
            <a:ext cx="10835640" cy="1143000"/>
          </a:xfrm>
          <a:prstGeom prst="roundRect">
            <a:avLst/>
          </a:prstGeom>
          <a:solidFill>
            <a:srgbClr val="0E1D16"/>
          </a:solidFill>
          <a:ln>
            <a:solidFill>
              <a:srgbClr val="0E1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617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FEBDC"/>
                </a:solidFill>
                <a:latin typeface="Aptos Mono"/>
              </a:rPr>
              <a:t>RAW AUDIO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40280" y="4553712"/>
            <a:ext cx="79552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is processed in memory by the MVP and is not written to disk by the app.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0749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ECDC5"/>
                </a:solidFill>
                <a:latin typeface="Aptos"/>
              </a:rPr>
              <a:t>Feature vectors are encrypted in SQLite; deployment secrets should be managed securely.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LOCAL AI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A conversational layer with explicit safety boundaries.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9224" y="1847088"/>
            <a:ext cx="5852160" cy="4526280"/>
          </a:xfrm>
          <a:prstGeom prst="roundRect">
            <a:avLst/>
          </a:prstGeom>
          <a:solidFill>
            <a:srgbClr val="DCE2DC"/>
          </a:solidFill>
          <a:ln>
            <a:solidFill>
              <a:srgbClr val="DC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_crop_36220.png_0.65_1.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83080"/>
            <a:ext cx="5852160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12280" y="1965960"/>
            <a:ext cx="4572000" cy="1051560"/>
          </a:xfrm>
          <a:prstGeom prst="roundRect">
            <a:avLst/>
          </a:prstGeom>
          <a:solidFill>
            <a:srgbClr val="0E1D16"/>
          </a:solidFill>
          <a:ln>
            <a:solidFill>
              <a:srgbClr val="0E1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86600" y="226771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FEBDC"/>
                </a:solidFill>
                <a:latin typeface="Aptos Mono"/>
              </a:rPr>
              <a:t>OLLAMA / LOCAL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276148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Summarizes ECHO results in plain language.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342900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A7052"/>
                </a:solidFill>
                <a:latin typeface="Aptos Mono"/>
              </a:rPr>
              <a:t>NO DIAGNOSIS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342900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Explains the monitoring output only.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416052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A7052"/>
                </a:solidFill>
                <a:latin typeface="Aptos Mono"/>
              </a:rPr>
              <a:t>NO PRESCRIPTION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416052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Does not recommend medication.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03720" y="4892040"/>
            <a:ext cx="1508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A7052"/>
                </a:solidFill>
                <a:latin typeface="Aptos Mono"/>
              </a:rPr>
              <a:t>EMERGENCY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4892040"/>
            <a:ext cx="28346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Directs urgent situations to local medical services.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TECH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Commodity hardware. Open-source software. CPU-friendly inference.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874519"/>
            <a:ext cx="2331720" cy="393192"/>
          </a:xfrm>
          <a:prstGeom prst="roundRect">
            <a:avLst/>
          </a:prstGeom>
          <a:solidFill>
            <a:srgbClr val="0E1D16"/>
          </a:solidFill>
          <a:ln>
            <a:solidFill>
              <a:srgbClr val="0E1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24128" y="1947672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 Mono"/>
              </a:rPr>
              <a:t>HARDWARE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66160" y="1929384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1D16"/>
                </a:solidFill>
                <a:latin typeface="Aptos"/>
              </a:rPr>
              <a:t>Raspberry Pi + microphone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04872"/>
            <a:ext cx="2331720" cy="393192"/>
          </a:xfrm>
          <a:prstGeom prst="roundRect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47802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 Mono"/>
              </a:rPr>
              <a:t>APP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459736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9746E"/>
                </a:solidFill>
                <a:latin typeface="Aptos"/>
              </a:rPr>
              <a:t>Python 3 + Flask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935224"/>
            <a:ext cx="2331720" cy="393192"/>
          </a:xfrm>
          <a:prstGeom prst="roundRect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008376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 Mono"/>
              </a:rPr>
              <a:t>SIGNAL 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990088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E1D16"/>
                </a:solidFill>
                <a:latin typeface="Aptos"/>
              </a:rPr>
              <a:t>NumPy • SciPy • SoundFile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3465575"/>
            <a:ext cx="2331720" cy="393192"/>
          </a:xfrm>
          <a:prstGeom prst="roundRect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38727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 Mono"/>
              </a:rPr>
              <a:t>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3520439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9746E"/>
                </a:solidFill>
                <a:latin typeface="Aptos"/>
              </a:rPr>
              <a:t>SQLite + Fernet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3995927"/>
            <a:ext cx="2331720" cy="393192"/>
          </a:xfrm>
          <a:prstGeom prst="roundRect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4069079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 Mono"/>
              </a:rPr>
              <a:t>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4050791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E1D16"/>
                </a:solidFill>
                <a:latin typeface="Aptos"/>
              </a:rPr>
              <a:t>Scikit-learn • anomaly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" y="4526279"/>
            <a:ext cx="2331720" cy="393192"/>
          </a:xfrm>
          <a:prstGeom prst="roundRect">
            <a:avLst/>
          </a:prstGeom>
          <a:solidFill>
            <a:srgbClr val="0E1D16"/>
          </a:solidFill>
          <a:ln>
            <a:solidFill>
              <a:srgbClr val="0E1D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599431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 Mono"/>
              </a:rPr>
              <a:t>LOCAL AI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581143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9746E"/>
                </a:solidFill>
                <a:latin typeface="Aptos"/>
              </a:rPr>
              <a:t>Ollama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5056631"/>
            <a:ext cx="2331720" cy="393192"/>
          </a:xfrm>
          <a:prstGeom prst="roundRect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5129783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Aptos Mono"/>
              </a:rPr>
              <a:t>DEPLOYMENT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5111495"/>
            <a:ext cx="7132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E1D16"/>
                </a:solidFill>
                <a:latin typeface="Aptos"/>
              </a:rPr>
              <a:t>Docker • Render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71500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A7052"/>
                </a:solidFill>
                <a:latin typeface="Aptos"/>
              </a:rPr>
              <a:t>Future clients: React/Vite web frontend • native Kotlin Android 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A7052"/>
                </a:solidFill>
                <a:latin typeface="Aptos Mono"/>
              </a:rPr>
              <a:t>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 i="0">
                <a:solidFill>
                  <a:srgbClr val="1B231F"/>
                </a:solidFill>
                <a:latin typeface="Aptos Display"/>
              </a:rPr>
              <a:t>How we test the engineering without overclaiming.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48840"/>
            <a:ext cx="32461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7" y="23957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7" y="28163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1D16"/>
                </a:solidFill>
                <a:latin typeface="Aptos"/>
              </a:rPr>
              <a:t>PERSONAL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3337560"/>
            <a:ext cx="2697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Repeated recordings from the same person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148840"/>
            <a:ext cx="32461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44568" y="23957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4568" y="28163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1D16"/>
                </a:solidFill>
                <a:latin typeface="Aptos"/>
              </a:rPr>
              <a:t>PUBLIC DATASETS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3337560"/>
            <a:ext cx="2697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Coswara • COUGHVID • ICBHI — separate experiments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2148840"/>
            <a:ext cx="324612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5E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47888" y="2395728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A7052"/>
                </a:solidFill>
                <a:latin typeface="Aptos Mono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47888" y="28163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E1D16"/>
                </a:solidFill>
                <a:latin typeface="Aptos"/>
              </a:rPr>
              <a:t>CONTROLLED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47888" y="3337560"/>
            <a:ext cx="26974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9746E"/>
                </a:solidFill>
                <a:latin typeface="Aptos"/>
              </a:rPr>
              <a:t>Future clinical partner + standardized protocol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1554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9746E"/>
                </a:solidFill>
                <a:latin typeface="Aptos Mono"/>
              </a:rPr>
              <a:t>ENGINEERING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194560" y="4828032"/>
            <a:ext cx="7680960" cy="0"/>
          </a:xfrm>
          <a:prstGeom prst="line">
            <a:avLst/>
          </a:prstGeom>
          <a:ln w="38100">
            <a:solidFill>
              <a:srgbClr val="2A70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2286000" y="4645152"/>
            <a:ext cx="365760" cy="365760"/>
          </a:xfrm>
          <a:prstGeom prst="ellipse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51206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D16"/>
                </a:solidFill>
                <a:latin typeface="Aptos Mono"/>
              </a:rPr>
              <a:t>OFFLINE
VALIDATION</a:t>
            </a:r>
          </a:p>
        </p:txBody>
      </p:sp>
      <p:sp>
        <p:nvSpPr>
          <p:cNvPr id="20" name="Oval 19"/>
          <p:cNvSpPr/>
          <p:nvPr/>
        </p:nvSpPr>
        <p:spPr>
          <a:xfrm>
            <a:off x="5486400" y="4645152"/>
            <a:ext cx="365760" cy="365760"/>
          </a:xfrm>
          <a:prstGeom prst="ellipse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92040" y="51206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D16"/>
                </a:solidFill>
                <a:latin typeface="Aptos Mono"/>
              </a:rPr>
              <a:t>CONTROLLED
PILOT</a:t>
            </a:r>
          </a:p>
        </p:txBody>
      </p:sp>
      <p:sp>
        <p:nvSpPr>
          <p:cNvPr id="22" name="Oval 21"/>
          <p:cNvSpPr/>
          <p:nvPr/>
        </p:nvSpPr>
        <p:spPr>
          <a:xfrm>
            <a:off x="8869680" y="4645152"/>
            <a:ext cx="365760" cy="365760"/>
          </a:xfrm>
          <a:prstGeom prst="ellipse">
            <a:avLst/>
          </a:prstGeom>
          <a:solidFill>
            <a:srgbClr val="2A7052"/>
          </a:solidFill>
          <a:ln>
            <a:solidFill>
              <a:srgbClr val="2A70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19" y="512064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E1D16"/>
                </a:solidFill>
                <a:latin typeface="Aptos Mono"/>
              </a:rPr>
              <a:t>CLINICAL
VALIDATION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806440"/>
            <a:ext cx="10744200" cy="438912"/>
          </a:xfrm>
          <a:prstGeom prst="roundRect">
            <a:avLst/>
          </a:prstGeom>
          <a:solidFill>
            <a:srgbClr val="CFEBDC"/>
          </a:solidFill>
          <a:ln>
            <a:solidFill>
              <a:srgbClr val="CFEB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5916168"/>
            <a:ext cx="10287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E1D16"/>
                </a:solidFill>
                <a:latin typeface="Aptos"/>
              </a:rPr>
              <a:t>Public datasets support offline engineering validation — not a disease claim.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9746E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69746E"/>
                </a:solidFill>
                <a:latin typeface="Aptos Mono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D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FEBDC"/>
                </a:solidFill>
                <a:latin typeface="Aptos Mono"/>
              </a:rPr>
              <a:t>CLOSING  /  ECHO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7315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Aptos Display"/>
              </a:rPr>
              <a:t>From a microphone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72768"/>
            <a:ext cx="8961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1">
                <a:solidFill>
                  <a:srgbClr val="CFEBDC"/>
                </a:solidFill>
                <a:latin typeface="Georgia"/>
              </a:rPr>
              <a:t>to a personal respiratory signal.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606040"/>
            <a:ext cx="8138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Aptos"/>
              </a:rPr>
              <a:t>ECHO does not try to diagnose from one sound.
It tries to notice meaningful change from your own normal.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4069080"/>
            <a:ext cx="10652760" cy="960120"/>
          </a:xfrm>
          <a:prstGeom prst="roundRect">
            <a:avLst/>
          </a:prstGeom>
          <a:solidFill>
            <a:srgbClr val="1F352B"/>
          </a:solidFill>
          <a:ln>
            <a:solidFill>
              <a:srgbClr val="1F35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315968"/>
            <a:ext cx="1005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FEBDC"/>
                </a:solidFill>
                <a:latin typeface="Aptos Mono"/>
              </a:rPr>
              <a:t>TODAY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65960" y="4224528"/>
            <a:ext cx="8869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Aptos"/>
              </a:rPr>
              <a:t>Guided capture  •  personal baseline  •  deviation score  •  explainability  •  local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62356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ECDC5"/>
                </a:solidFill>
                <a:latin typeface="Aptos Mono"/>
              </a:rPr>
              <a:t>RESEARCH PROTOTYPE — NOT A DIAGNOSTIC DEVICE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989320"/>
            <a:ext cx="6858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FEBDC"/>
                </a:solidFill>
                <a:latin typeface="Aptos Mono"/>
              </a:rPr>
              <a:t>TEAM VOID_ELIMINATORS()  •  SRMIST  •  MED VISION’26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967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B8CDC2"/>
                </a:solidFill>
                <a:latin typeface="Aptos Mono"/>
              </a:rPr>
              <a:t>ECHO  /  MED VISION’26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9672"/>
            <a:ext cx="411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B8CDC2"/>
                </a:solidFill>
                <a:latin typeface="Aptos Mono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